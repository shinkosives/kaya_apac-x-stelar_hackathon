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120640" cy="512064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09190" y="-2209190"/>
            <a:ext cx="6247181" cy="6247181"/>
          </a:xfrm>
          <a:prstGeom prst="ellipse">
            <a:avLst/>
          </a:prstGeom>
          <a:solidFill>
            <a:srgbClr val="8B5CF6">
              <a:alpha val="11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772461" y="-2772461"/>
            <a:ext cx="7373722" cy="7373722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65615" y="-1828800"/>
            <a:ext cx="4572000" cy="4572000"/>
          </a:xfrm>
          <a:prstGeom prst="ellipse">
            <a:avLst/>
          </a:prstGeom>
          <a:solidFill>
            <a:srgbClr val="6366F1">
              <a:alpha val="1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762695" y="-2331720"/>
            <a:ext cx="5577840" cy="5577840"/>
          </a:xfrm>
          <a:prstGeom prst="ellipse">
            <a:avLst/>
          </a:prstGeom>
          <a:solidFill>
            <a:srgbClr val="6366F1">
              <a:alpha val="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259775" y="-2834640"/>
            <a:ext cx="6583680" cy="6583680"/>
          </a:xfrm>
          <a:prstGeom prst="ellipse">
            <a:avLst/>
          </a:prstGeom>
          <a:solidFill>
            <a:srgbClr val="6366F1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34095" y="3931920"/>
            <a:ext cx="4937760" cy="4937760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990942" y="3388766"/>
            <a:ext cx="6024067" cy="6024067"/>
          </a:xfrm>
          <a:prstGeom prst="ellipse">
            <a:avLst/>
          </a:prstGeom>
          <a:solidFill>
            <a:srgbClr val="22D3EE">
              <a:alpha val="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447788" y="2845613"/>
            <a:ext cx="7110374" cy="7110374"/>
          </a:xfrm>
          <a:prstGeom prst="ellipse">
            <a:avLst/>
          </a:prstGeom>
          <a:solidFill>
            <a:srgbClr val="22D3EE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777240"/>
            <a:ext cx="868680" cy="868680"/>
          </a:xfrm>
          <a:prstGeom prst="roundRect">
            <a:avLst>
              <a:gd name="adj" fmla="val 23158"/>
            </a:avLst>
          </a:prstGeom>
          <a:solidFill>
            <a:srgbClr val="8B5CF6"/>
          </a:solidFill>
          <a:ln/>
          <a:effectLst>
            <a:outerShdw sx="100000" sy="100000" kx="0" ky="0" algn="bl" rotWithShape="0" blurRad="228600" dist="50800" dir="5400000">
              <a:srgbClr val="8B5CF6">
                <a:alpha val="5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7772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600200" y="822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spc="200" kern="0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KAYA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48640" y="2148840"/>
            <a:ext cx="1109441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0" b="1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Kaya</a:t>
            </a:r>
            <a:pPr algn="l" indent="0" marL="0">
              <a:buNone/>
            </a:pPr>
            <a:r>
              <a:rPr lang="en-US" sz="78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mo </a:t>
            </a:r>
            <a:pPr algn="l" indent="0" marL="0">
              <a:buNone/>
            </a:pPr>
            <a:r>
              <a:rPr lang="en-US" sz="7800" b="1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'to.</a:t>
            </a:r>
            <a:endParaRPr lang="en-US" sz="78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9AA0A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An AI budgeting copilot that turns impulse spending into on-chain savings, gasless payments, and real financial credibility — built on Stellar.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2240280" cy="347472"/>
          </a:xfrm>
          <a:prstGeom prst="roundRect">
            <a:avLst>
              <a:gd name="adj" fmla="val 50000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9204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PRACTICAL PAYMENTS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71800" y="4892040"/>
            <a:ext cx="2240280" cy="347472"/>
          </a:xfrm>
          <a:prstGeom prst="roundRect">
            <a:avLst>
              <a:gd name="adj" fmla="val 50000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489204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MEANINGFUL DEFI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94960" y="4892040"/>
            <a:ext cx="2240280" cy="347472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489204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LOCALIZED TOOLS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818120" y="4892040"/>
            <a:ext cx="2240280" cy="347472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18120" y="489204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COMPOSABILITY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5715000"/>
            <a:ext cx="11094415" cy="0"/>
          </a:xfrm>
          <a:prstGeom prst="line">
            <a:avLst/>
          </a:prstGeom>
          <a:noFill/>
          <a:ln w="9525">
            <a:solidFill>
              <a:srgbClr val="2B2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852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APEC x Stellar Hackathon (SEA)  ·  May–Jul 2026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KAYA · Christian Gabrielle Mariveles, Hannah Munoz, Adrian Joseph Salim, Aldrhey Jave M. Agsunod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02613" y="-1885493"/>
            <a:ext cx="4685386" cy="4685386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25066" y="-2307946"/>
            <a:ext cx="5530291" cy="5530291"/>
          </a:xfrm>
          <a:prstGeom prst="ellipse">
            <a:avLst/>
          </a:prstGeom>
          <a:solidFill>
            <a:srgbClr val="8B5CF6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4255" y="4663440"/>
            <a:ext cx="3657600" cy="3657600"/>
          </a:xfrm>
          <a:prstGeom prst="ellipse">
            <a:avLst/>
          </a:prstGeom>
          <a:solidFill>
            <a:srgbClr val="6366F1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11919" y="4261104"/>
            <a:ext cx="4462272" cy="4462272"/>
          </a:xfrm>
          <a:prstGeom prst="ellipse">
            <a:avLst/>
          </a:prstGeom>
          <a:solidFill>
            <a:srgbClr val="6366F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9583" y="3858768"/>
            <a:ext cx="5266944" cy="5266944"/>
          </a:xfrm>
          <a:prstGeom prst="ellipse">
            <a:avLst/>
          </a:prstGeom>
          <a:solidFill>
            <a:srgbClr val="6366F1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39496"/>
            <a:ext cx="256032" cy="109728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B71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 · WHY IT'S LOCAL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Young Filipinos can spend in one tap — but can't save, can't buffer, can't borrow.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2499284" cy="2834640"/>
          </a:xfrm>
          <a:prstGeom prst="roundRect">
            <a:avLst>
              <a:gd name="adj" fmla="val 3659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286000"/>
            <a:ext cx="82296" cy="2834640"/>
          </a:xfrm>
          <a:prstGeom prst="roundRect">
            <a:avLst>
              <a:gd name="adj" fmla="val 44444"/>
            </a:avLst>
          </a:prstGeom>
          <a:solidFill>
            <a:srgbClr val="FB7185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20420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Impulse by default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200400"/>
            <a:ext cx="20420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E-wallets make spending frictionless and saving an afterthought. A ₱250 coffee, weekly, is the gap between a buffer and none.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13684" y="2286000"/>
            <a:ext cx="2499284" cy="2834640"/>
          </a:xfrm>
          <a:prstGeom prst="roundRect">
            <a:avLst>
              <a:gd name="adj" fmla="val 3659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13684" y="2286000"/>
            <a:ext cx="82296" cy="2834640"/>
          </a:xfrm>
          <a:prstGeom prst="roundRect">
            <a:avLst>
              <a:gd name="adj" fmla="val 44444"/>
            </a:avLst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3688004" y="2560320"/>
            <a:ext cx="20420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safety net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88004" y="3200400"/>
            <a:ext cx="20420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large share of young Filipinos hold near-zero liquid savings. One emergency = high-interest debt.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78728" y="2286000"/>
            <a:ext cx="2499284" cy="2834640"/>
          </a:xfrm>
          <a:prstGeom prst="roundRect">
            <a:avLst>
              <a:gd name="adj" fmla="val 3659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8728" y="2286000"/>
            <a:ext cx="82296" cy="2834640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6553048" y="2560320"/>
            <a:ext cx="20420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Thin credit files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53048" y="3200400"/>
            <a:ext cx="20420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Banks have almost no data on a 22-year-old's discipline. Good behavior is invisible and unrewarded.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3771" y="2286000"/>
            <a:ext cx="2499284" cy="2834640"/>
          </a:xfrm>
          <a:prstGeom prst="roundRect">
            <a:avLst>
              <a:gd name="adj" fmla="val 3659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3771" y="2286000"/>
            <a:ext cx="82296" cy="2834640"/>
          </a:xfrm>
          <a:prstGeom prst="roundRect">
            <a:avLst>
              <a:gd name="adj" fmla="val 44444"/>
            </a:avLst>
          </a:prstGeom>
          <a:solidFill>
            <a:srgbClr val="8B5CF6"/>
          </a:solidFill>
          <a:ln/>
        </p:spPr>
      </p:sp>
      <p:sp>
        <p:nvSpPr>
          <p:cNvPr id="25" name="Text 23"/>
          <p:cNvSpPr/>
          <p:nvPr/>
        </p:nvSpPr>
        <p:spPr>
          <a:xfrm>
            <a:off x="9418091" y="2560320"/>
            <a:ext cx="20420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Passive savings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18091" y="3200400"/>
            <a:ext cx="20420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 money that is saved just sits in a wallet earning nothing.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44068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gap:  </a:t>
            </a:r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tool closes the loop between behavior, productive assets, payments, and credibility. KAYA does — and Stellar is the rail that makes it possible.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2B2B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Kaya mo 'to.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071055" y="6400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APEC x Stellar Hackathon 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02613" y="-1885493"/>
            <a:ext cx="4685386" cy="4685386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25066" y="-2307946"/>
            <a:ext cx="5530291" cy="5530291"/>
          </a:xfrm>
          <a:prstGeom prst="ellipse">
            <a:avLst/>
          </a:prstGeom>
          <a:solidFill>
            <a:srgbClr val="8B5CF6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4255" y="4663440"/>
            <a:ext cx="3657600" cy="3657600"/>
          </a:xfrm>
          <a:prstGeom prst="ellipse">
            <a:avLst/>
          </a:prstGeom>
          <a:solidFill>
            <a:srgbClr val="6366F1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11919" y="4261104"/>
            <a:ext cx="4462272" cy="4462272"/>
          </a:xfrm>
          <a:prstGeom prst="ellipse">
            <a:avLst/>
          </a:prstGeom>
          <a:solidFill>
            <a:srgbClr val="6366F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9583" y="3858768"/>
            <a:ext cx="5266944" cy="5266944"/>
          </a:xfrm>
          <a:prstGeom prst="ellipse">
            <a:avLst/>
          </a:prstGeom>
          <a:solidFill>
            <a:srgbClr val="6366F1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39496"/>
            <a:ext cx="256032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IT'S FOR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for the segment fintech forgets.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240280"/>
            <a:ext cx="3423818" cy="3291840"/>
          </a:xfrm>
          <a:prstGeom prst="roundRect">
            <a:avLst>
              <a:gd name="adj" fmla="val 2778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68680" y="256032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60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68680" y="347472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Iskolar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3840480"/>
            <a:ext cx="27837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STUDENT · 18–24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4160520"/>
            <a:ext cx="278373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Allowance-based, tempted by food delivery &amp; online sales, zero savings.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68680" y="4892040"/>
            <a:ext cx="27837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 →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Turns saved ₱250 coffees into a growing, yield-earning balance.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3938" y="2240280"/>
            <a:ext cx="3423818" cy="3291840"/>
          </a:xfrm>
          <a:prstGeom prst="roundRect">
            <a:avLst>
              <a:gd name="adj" fmla="val 2778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3978" y="256032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22D3EE">
              <a:alpha val="22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3978" y="2560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03978" y="347472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Yuppie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703978" y="3840480"/>
            <a:ext cx="27837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YOUNG PROFESSIONAL · 23–30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3978" y="4160520"/>
            <a:ext cx="278373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real income, lifestyle creep, wants to save but lacks discipline.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03978" y="4892040"/>
            <a:ext cx="27837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 →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cooling-off savings, gasless payments, and a credit reputation.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19237" y="2240280"/>
            <a:ext cx="3423818" cy="3291840"/>
          </a:xfrm>
          <a:prstGeom prst="roundRect">
            <a:avLst>
              <a:gd name="adj" fmla="val 2778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39277" y="2560320"/>
            <a:ext cx="777240" cy="777240"/>
          </a:xfrm>
          <a:prstGeom prst="roundRect">
            <a:avLst>
              <a:gd name="adj" fmla="val 23529"/>
            </a:avLst>
          </a:prstGeom>
          <a:solidFill>
            <a:srgbClr val="34D399">
              <a:alpha val="22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39277" y="2560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539277" y="3474720"/>
            <a:ext cx="27837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Negosyante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539277" y="3840480"/>
            <a:ext cx="278373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spc="15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MICRO-MERCHANT (PEER)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539277" y="4160520"/>
            <a:ext cx="278373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Accepts QRPh, wants instant settlement.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539277" y="4892040"/>
            <a:ext cx="278373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 → </a:t>
            </a:r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Receives the asset they want via Stellar path payments, instantly.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571500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market: Philippines · designed to extend across SEA by swapping in local anchors + stablecoins.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2B2B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Kaya mo 'to.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071055" y="6400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APEC x Stellar Hackathon 2026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02613" y="-1885493"/>
            <a:ext cx="4685386" cy="4685386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25066" y="-2307946"/>
            <a:ext cx="5530291" cy="5530291"/>
          </a:xfrm>
          <a:prstGeom prst="ellipse">
            <a:avLst/>
          </a:prstGeom>
          <a:solidFill>
            <a:srgbClr val="8B5CF6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4255" y="4663440"/>
            <a:ext cx="3657600" cy="3657600"/>
          </a:xfrm>
          <a:prstGeom prst="ellipse">
            <a:avLst/>
          </a:prstGeom>
          <a:solidFill>
            <a:srgbClr val="6366F1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11919" y="4261104"/>
            <a:ext cx="4462272" cy="4462272"/>
          </a:xfrm>
          <a:prstGeom prst="ellipse">
            <a:avLst/>
          </a:prstGeom>
          <a:solidFill>
            <a:srgbClr val="6366F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9583" y="3858768"/>
            <a:ext cx="5266944" cy="5266944"/>
          </a:xfrm>
          <a:prstGeom prst="ellipse">
            <a:avLst/>
          </a:prstGeom>
          <a:solidFill>
            <a:srgbClr val="6366F1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39496"/>
            <a:ext cx="256032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continuous behavioral-financial loop.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stage is powered by an existing Stellar building block — composability first.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1911645" cy="2468880"/>
          </a:xfrm>
          <a:prstGeom prst="roundRect">
            <a:avLst>
              <a:gd name="adj" fmla="val 4783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84422" y="2834640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22D3EE">
              <a:alpha val="20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4422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0080" y="3611880"/>
            <a:ext cx="172876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Fund In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995928"/>
            <a:ext cx="163732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Fiat → local stablecoin via Stellar anchor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06005" y="3602736"/>
            <a:ext cx="292608" cy="292608"/>
          </a:xfrm>
          <a:prstGeom prst="chevron">
            <a:avLst/>
          </a:prstGeom>
          <a:solidFill>
            <a:srgbClr val="22D3EE">
              <a:alpha val="7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844333" y="2514600"/>
            <a:ext cx="1911645" cy="2468880"/>
          </a:xfrm>
          <a:prstGeom prst="roundRect">
            <a:avLst>
              <a:gd name="adj" fmla="val 4783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80115" y="2834640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80115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2935773" y="3611880"/>
            <a:ext cx="172876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Coach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81493" y="3995928"/>
            <a:ext cx="163732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“Kaya mo ba 'to?” on every purchase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801697" y="3602736"/>
            <a:ext cx="292608" cy="292608"/>
          </a:xfrm>
          <a:prstGeom prst="chevron">
            <a:avLst/>
          </a:prstGeom>
          <a:solidFill>
            <a:srgbClr val="8B5CF6">
              <a:alpha val="7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140025" y="2514600"/>
            <a:ext cx="1911645" cy="2468880"/>
          </a:xfrm>
          <a:prstGeom prst="roundRect">
            <a:avLst>
              <a:gd name="adj" fmla="val 4783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75808" y="2834640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34D399">
              <a:alpha val="20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75808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231465" y="3611880"/>
            <a:ext cx="172876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Save / Pay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277185" y="3995928"/>
            <a:ext cx="163732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Vault it (lockup) or QR-pay it, gaslessly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97390" y="3602736"/>
            <a:ext cx="292608" cy="292608"/>
          </a:xfrm>
          <a:prstGeom prst="chevron">
            <a:avLst/>
          </a:prstGeom>
          <a:solidFill>
            <a:srgbClr val="34D399">
              <a:alpha val="7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435718" y="2514600"/>
            <a:ext cx="1911645" cy="2468880"/>
          </a:xfrm>
          <a:prstGeom prst="roundRect">
            <a:avLst>
              <a:gd name="adj" fmla="val 4783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71500" y="2834640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FBBF24">
              <a:alpha val="20000"/>
            </a:srgbClr>
          </a:solidFill>
          <a:ln w="1270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71500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527158" y="3611880"/>
            <a:ext cx="172876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Reputation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572878" y="3995928"/>
            <a:ext cx="163732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Discipline recorded on-chain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393083" y="3602736"/>
            <a:ext cx="292608" cy="292608"/>
          </a:xfrm>
          <a:prstGeom prst="chevron">
            <a:avLst/>
          </a:prstGeom>
          <a:solidFill>
            <a:srgbClr val="FBBF24">
              <a:alpha val="7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731411" y="2514600"/>
            <a:ext cx="1911645" cy="2468880"/>
          </a:xfrm>
          <a:prstGeom prst="roundRect">
            <a:avLst>
              <a:gd name="adj" fmla="val 4783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367193" y="2834640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FB7185">
              <a:alpha val="20000"/>
            </a:srgbClr>
          </a:solidFill>
          <a:ln w="12700">
            <a:solidFill>
              <a:srgbClr val="FB7185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67193" y="2834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71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822851" y="3611880"/>
            <a:ext cx="172876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Credit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868571" y="3995928"/>
            <a:ext cx="163732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Future: under-collateralized loans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Fund in → AI coaches → </a:t>
            </a:r>
            <a:pPr algn="ctr" indent="0" marL="0">
              <a:buNone/>
            </a:pPr>
            <a:r>
              <a:rPr lang="en-US" sz="1350" b="1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Save it (vault) </a:t>
            </a:r>
            <a:pPr algn="ctr" indent="0" marL="0">
              <a:buNone/>
            </a:pPr>
            <a:r>
              <a:rPr lang="en-US" sz="13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</a:t>
            </a:r>
            <a:pPr algn="ctr" indent="0" marL="0">
              <a:buNone/>
            </a:pPr>
            <a:r>
              <a:rPr lang="en-US" sz="135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 it (QR)</a:t>
            </a:r>
            <a:pPr algn="ctr" indent="0" marL="0">
              <a:buNone/>
            </a:pPr>
            <a:r>
              <a:rPr lang="en-US" sz="13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build reputation → unlock credit.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2B2B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Kaya mo 'to.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71055" y="6400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APEC x Stellar Hackathon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02613" y="-1885493"/>
            <a:ext cx="4685386" cy="4685386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25066" y="-2307946"/>
            <a:ext cx="5530291" cy="5530291"/>
          </a:xfrm>
          <a:prstGeom prst="ellipse">
            <a:avLst/>
          </a:prstGeom>
          <a:solidFill>
            <a:srgbClr val="8B5CF6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4255" y="4663440"/>
            <a:ext cx="3657600" cy="3657600"/>
          </a:xfrm>
          <a:prstGeom prst="ellipse">
            <a:avLst/>
          </a:prstGeom>
          <a:solidFill>
            <a:srgbClr val="6366F1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11919" y="4261104"/>
            <a:ext cx="4462272" cy="4462272"/>
          </a:xfrm>
          <a:prstGeom prst="ellipse">
            <a:avLst/>
          </a:prstGeom>
          <a:solidFill>
            <a:srgbClr val="6366F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9583" y="3858768"/>
            <a:ext cx="5266944" cy="5266944"/>
          </a:xfrm>
          <a:prstGeom prst="ellipse">
            <a:avLst/>
          </a:prstGeom>
          <a:solidFill>
            <a:srgbClr val="6366F1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39496"/>
            <a:ext cx="256032" cy="1097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 1 / 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99855" y="457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9855" y="457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MEANINGFUL DEFI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84124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“Delayed Gratification” Vault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548640" y="1481328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0A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“Save it Instead” — DeFi mechanics used to break the impulse cycle, not just farm yield.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4572000" cy="3246120"/>
          </a:xfrm>
          <a:prstGeom prst="roundRect">
            <a:avLst>
              <a:gd name="adj" fmla="val 2817"/>
            </a:avLst>
          </a:prstGeom>
          <a:solidFill>
            <a:srgbClr val="1B1B27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194560"/>
            <a:ext cx="82296" cy="3246120"/>
          </a:xfrm>
          <a:prstGeom prst="roundRect">
            <a:avLst>
              <a:gd name="adj" fmla="val 44444"/>
            </a:avLst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4505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2834640"/>
            <a:ext cx="39319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Maya wants a ₱250 latte. KAYA flags it: she's over her “wants” budget. Instead of guilt, it offers a “Save it Instead” button. One tap moves ₱250 into her vault — earning micro-yield, locked for 48 hours so the craving passes.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0" y="2194560"/>
            <a:ext cx="6156655" cy="2148840"/>
          </a:xfrm>
          <a:prstGeom prst="roundRect">
            <a:avLst>
              <a:gd name="adj" fmla="val 4255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06440" y="2423160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IT WORKS ON STELLAR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06440" y="2761488"/>
            <a:ext cx="551657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Soroban smart contract (“KAYA Vault”) accepts local-stablecoin deposits</a:t>
            </a:r>
            <a:endParaRPr lang="en-US" sz="12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Idle funds routed into an existing Stellar yield aggregator / liquidity pool</a:t>
            </a:r>
            <a:endParaRPr lang="en-US" sz="12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twist: a 48-hour cooling-off lockup enforced per deposit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0" y="4526280"/>
            <a:ext cx="6156655" cy="91440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4526280"/>
            <a:ext cx="6156655" cy="914400"/>
          </a:xfrm>
          <a:prstGeom prst="roundRect">
            <a:avLst>
              <a:gd name="adj" fmla="val 10000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4654296"/>
            <a:ext cx="55165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spc="200" kern="0" dirty="0">
                <a:solidFill>
                  <a:srgbClr val="34D3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JUDGES WELL 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 with a genuine human purpose, tied to a real asset and a real local problem — not yield for yield's sake.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Composability:  </a:t>
            </a:r>
            <a:pPr algn="l" indent="0" marL="0">
              <a:buNone/>
            </a:pPr>
            <a:r>
              <a:rPr lang="en-US" sz="11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Soroban contract + third-party yield pool + anchor-issued stablecoin, stitched into one feature.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2B2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Kaya mo 'to.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71055" y="6400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APEC x Stellar Hackathon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02613" y="-1885493"/>
            <a:ext cx="4685386" cy="4685386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25066" y="-2307946"/>
            <a:ext cx="5530291" cy="5530291"/>
          </a:xfrm>
          <a:prstGeom prst="ellipse">
            <a:avLst/>
          </a:prstGeom>
          <a:solidFill>
            <a:srgbClr val="8B5CF6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4255" y="4663440"/>
            <a:ext cx="3657600" cy="3657600"/>
          </a:xfrm>
          <a:prstGeom prst="ellipse">
            <a:avLst/>
          </a:prstGeom>
          <a:solidFill>
            <a:srgbClr val="6366F1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11919" y="4261104"/>
            <a:ext cx="4462272" cy="4462272"/>
          </a:xfrm>
          <a:prstGeom prst="ellipse">
            <a:avLst/>
          </a:prstGeom>
          <a:solidFill>
            <a:srgbClr val="6366F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9583" y="3858768"/>
            <a:ext cx="5266944" cy="5266944"/>
          </a:xfrm>
          <a:prstGeom prst="ellipse">
            <a:avLst/>
          </a:prstGeom>
          <a:solidFill>
            <a:srgbClr val="6366F1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39496"/>
            <a:ext cx="256032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 2 / 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99855" y="457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9855" y="457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/ OFF-RAMPS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84124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Native KAYA Wallet Funding &amp; Cash-Out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548640" y="1481328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0A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Move pesos in and out using rails people already trust.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4572000" cy="3246120"/>
          </a:xfrm>
          <a:prstGeom prst="roundRect">
            <a:avLst>
              <a:gd name="adj" fmla="val 2817"/>
            </a:avLst>
          </a:prstGeom>
          <a:solidFill>
            <a:srgbClr val="1B1B27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194560"/>
            <a:ext cx="82296" cy="3246120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4505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2834640"/>
            <a:ext cx="39319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Carlo links GCash, taps “Add ₱1,000,” confirms in the familiar flow, and seconds later sees ₱1,000 spendable in KAYA. “Cash Out” returns pesos to his bank or e-wallet.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0" y="2194560"/>
            <a:ext cx="6156655" cy="2148840"/>
          </a:xfrm>
          <a:prstGeom prst="roundRect">
            <a:avLst>
              <a:gd name="adj" fmla="val 4255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06440" y="2423160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IT WORKS ON STELLAR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06440" y="2761488"/>
            <a:ext cx="551657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SEP-24 (hosted) + SEP-6 (programmatic) against existing SEA anchors</a:t>
            </a:r>
            <a:endParaRPr lang="en-US" sz="12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Deposit via GCash, Maya, bank → anchor issues local stablecoin to the wallet</a:t>
            </a:r>
            <a:endParaRPr lang="en-US" sz="12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SEP-10 wallet auth + SEP-12 KYC handoff (KAYA never custodies IDs)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0" y="4526280"/>
            <a:ext cx="6156655" cy="914400"/>
          </a:xfrm>
          <a:prstGeom prst="roundRect">
            <a:avLst>
              <a:gd name="adj" fmla="val 10000"/>
            </a:avLst>
          </a:prstGeom>
          <a:solidFill>
            <a:srgbClr val="22D3EE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4526280"/>
            <a:ext cx="6156655" cy="914400"/>
          </a:xfrm>
          <a:prstGeom prst="roundRect">
            <a:avLst>
              <a:gd name="adj" fmla="val 10000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22D3EE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4654296"/>
            <a:ext cx="55165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JUDGES WELL 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clearest proof of “build on existing rails, not your own gateway.” We explicitly consume anchor infrastructure.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Composability:  </a:t>
            </a:r>
            <a:pPr algn="l" indent="0" marL="0">
              <a:buNone/>
            </a:pPr>
            <a:r>
              <a:rPr lang="en-US" sz="11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payment-gateway code — KAYA is a thin, friendly client over standardized anchor SEPs.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2B2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Kaya mo 'to.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71055" y="6400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APEC x Stellar Hackathon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02613" y="-1885493"/>
            <a:ext cx="4685386" cy="4685386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25066" y="-2307946"/>
            <a:ext cx="5530291" cy="5530291"/>
          </a:xfrm>
          <a:prstGeom prst="ellipse">
            <a:avLst/>
          </a:prstGeom>
          <a:solidFill>
            <a:srgbClr val="8B5CF6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4255" y="4663440"/>
            <a:ext cx="3657600" cy="3657600"/>
          </a:xfrm>
          <a:prstGeom prst="ellipse">
            <a:avLst/>
          </a:prstGeom>
          <a:solidFill>
            <a:srgbClr val="6366F1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11919" y="4261104"/>
            <a:ext cx="4462272" cy="4462272"/>
          </a:xfrm>
          <a:prstGeom prst="ellipse">
            <a:avLst/>
          </a:prstGeom>
          <a:solidFill>
            <a:srgbClr val="6366F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9583" y="3858768"/>
            <a:ext cx="5266944" cy="5266944"/>
          </a:xfrm>
          <a:prstGeom prst="ellipse">
            <a:avLst/>
          </a:prstGeom>
          <a:solidFill>
            <a:srgbClr val="6366F1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39496"/>
            <a:ext cx="256032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 3 / 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99855" y="457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9855" y="457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PRACTICAL PAYMENTS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84124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“Kaya Afford It? Pay It!” QR Payments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548640" y="1481328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0A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AI green-lights the buy → scan → paid in pesos, gaslessly.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4572000" cy="3246120"/>
          </a:xfrm>
          <a:prstGeom prst="roundRect">
            <a:avLst>
              <a:gd name="adj" fmla="val 2817"/>
            </a:avLst>
          </a:prstGeom>
          <a:solidFill>
            <a:srgbClr val="1B1B27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194560"/>
            <a:ext cx="82296" cy="3246120"/>
          </a:xfrm>
          <a:prstGeom prst="roundRect">
            <a:avLst>
              <a:gd name="adj" fmla="val 44444"/>
            </a:avLst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4505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2834640"/>
            <a:ext cx="39319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AI approves Maya's groceries — “Kaya mo 'to!” A “Pay Now” button appears. She scans the store's QRPh code and the exact amount is paid. She never thinks about crypto, gas, or conversion.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0" y="2194560"/>
            <a:ext cx="6156655" cy="2148840"/>
          </a:xfrm>
          <a:prstGeom prst="roundRect">
            <a:avLst>
              <a:gd name="adj" fmla="val 4255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06440" y="2423160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IT WORKS ON STELLAR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06440" y="2761488"/>
            <a:ext cx="551657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QR scanner compatible with QRPh / regional EMVCo standards</a:t>
            </a:r>
            <a:endParaRPr lang="en-US" sz="12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 path payment converts her stablecoin to the merchant's asset atomically</a:t>
            </a:r>
            <a:endParaRPr lang="en-US" sz="12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Fee-bump (sponsored fees): KAYA's backend pays the XLM fee → fully gasless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0" y="4526280"/>
            <a:ext cx="6156655" cy="9144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4526280"/>
            <a:ext cx="6156655" cy="914400"/>
          </a:xfrm>
          <a:prstGeom prst="roundRect">
            <a:avLst>
              <a:gd name="adj" fmla="val 10000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8B5CF6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4654296"/>
            <a:ext cx="55165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spc="200" kern="0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JUDGES WELL 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 purchase, at a real merchant, on a real local QR standard — UX indistinguishable from GCash.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Composability:  </a:t>
            </a:r>
            <a:pPr algn="l" indent="0" marL="0">
              <a:buNone/>
            </a:pPr>
            <a:r>
              <a:rPr lang="en-US" sz="11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Uses Stellar's native DEX/AMM for conversion + built-in fee-bump for gasless UX. No custom relayer.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2B2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Kaya mo 'to.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71055" y="6400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APEC x Stellar Hackathon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02613" y="-1885493"/>
            <a:ext cx="4685386" cy="4685386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25066" y="-2307946"/>
            <a:ext cx="5530291" cy="5530291"/>
          </a:xfrm>
          <a:prstGeom prst="ellipse">
            <a:avLst/>
          </a:prstGeom>
          <a:solidFill>
            <a:srgbClr val="8B5CF6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4255" y="4663440"/>
            <a:ext cx="3657600" cy="3657600"/>
          </a:xfrm>
          <a:prstGeom prst="ellipse">
            <a:avLst/>
          </a:prstGeom>
          <a:solidFill>
            <a:srgbClr val="6366F1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11919" y="4261104"/>
            <a:ext cx="4462272" cy="4462272"/>
          </a:xfrm>
          <a:prstGeom prst="ellipse">
            <a:avLst/>
          </a:prstGeom>
          <a:solidFill>
            <a:srgbClr val="6366F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9583" y="3858768"/>
            <a:ext cx="5266944" cy="5266944"/>
          </a:xfrm>
          <a:prstGeom prst="ellipse">
            <a:avLst/>
          </a:prstGeom>
          <a:solidFill>
            <a:srgbClr val="6366F1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39496"/>
            <a:ext cx="256032" cy="10972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FEATURE 4 / 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899855" y="45720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99855" y="457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IDENTITY &amp; CREDIBILITY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841248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On-Chain Financial Health Score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548640" y="1481328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AA0A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Turn proven discipline into real borrowing power.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194560"/>
            <a:ext cx="4572000" cy="3246120"/>
          </a:xfrm>
          <a:prstGeom prst="roundRect">
            <a:avLst>
              <a:gd name="adj" fmla="val 2817"/>
            </a:avLst>
          </a:prstGeom>
          <a:solidFill>
            <a:srgbClr val="1B1B27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194560"/>
            <a:ext cx="82296" cy="3246120"/>
          </a:xfrm>
          <a:prstGeom prst="roundRect">
            <a:avLst>
              <a:gd name="adj" fmla="val 44444"/>
            </a:avLst>
          </a:prstGeom>
          <a:solidFill>
            <a:srgbClr val="FBBF2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4505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 STORY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68680" y="2834640"/>
            <a:ext cx="393192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months of hitting goals and respecting cooling-off periods, Carlo has a verifiable KAYA Score. When a Stellar micro-lender later offers a low-collateral loan, it's because it could read his track record on-chain.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0" y="2194560"/>
            <a:ext cx="6156655" cy="2148840"/>
          </a:xfrm>
          <a:prstGeom prst="roundRect">
            <a:avLst>
              <a:gd name="adj" fmla="val 4255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06440" y="2423160"/>
            <a:ext cx="5608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IT WORKS ON STELLAR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06440" y="2761488"/>
            <a:ext cx="551657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 habits recorded as on-chain attestations / Soroban reputation registry</a:t>
            </a:r>
            <a:endParaRPr lang="en-US" sz="12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score is a portable, user-controlled Web3 primitive</a:t>
            </a:r>
            <a:endParaRPr lang="en-US" sz="1250" dirty="0"/>
          </a:p>
          <a:p>
            <a:pPr algn="l" marL="177800" indent="-1778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Other Stellar micro-lenders read it to grant under-collateralized loans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0" y="4526280"/>
            <a:ext cx="6156655" cy="914400"/>
          </a:xfrm>
          <a:prstGeom prst="roundRect">
            <a:avLst>
              <a:gd name="adj" fmla="val 10000"/>
            </a:avLst>
          </a:prstGeom>
          <a:solidFill>
            <a:srgbClr val="FBBF24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0" y="4526280"/>
            <a:ext cx="6156655" cy="914400"/>
          </a:xfrm>
          <a:prstGeom prst="roundRect">
            <a:avLst>
              <a:gd name="adj" fmla="val 10000"/>
            </a:avLst>
          </a:prstGeom>
          <a:solidFill>
            <a:srgbClr val="000000">
              <a:alpha val="22000"/>
            </a:srgbClr>
          </a:solidFill>
          <a:ln w="12700">
            <a:solidFill>
              <a:srgbClr val="FBBF24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4654296"/>
            <a:ext cx="55165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spc="200" kern="0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JUDGES WELL 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Extends a simple “health score” into durable, ecosystem-wide utility — exactly what composability unlocks.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562356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Composability:  </a:t>
            </a:r>
            <a:pPr algn="l" indent="0" marL="0">
              <a:buNone/>
            </a:pPr>
            <a:r>
              <a:rPr lang="en-US" sz="11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to be consumed by others — KAYA becomes a building block in the wider Stellar credit stack.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2B2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Kaya mo 'to.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71055" y="6400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APEC x Stellar Hackathon 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02613" y="-1885493"/>
            <a:ext cx="4685386" cy="4685386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25066" y="-2307946"/>
            <a:ext cx="5530291" cy="5530291"/>
          </a:xfrm>
          <a:prstGeom prst="ellipse">
            <a:avLst/>
          </a:prstGeom>
          <a:solidFill>
            <a:srgbClr val="8B5CF6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4255" y="4663440"/>
            <a:ext cx="3657600" cy="3657600"/>
          </a:xfrm>
          <a:prstGeom prst="ellipse">
            <a:avLst/>
          </a:prstGeom>
          <a:solidFill>
            <a:srgbClr val="6366F1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11919" y="4261104"/>
            <a:ext cx="4462272" cy="4462272"/>
          </a:xfrm>
          <a:prstGeom prst="ellipse">
            <a:avLst/>
          </a:prstGeom>
          <a:solidFill>
            <a:srgbClr val="6366F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9583" y="3858768"/>
            <a:ext cx="5266944" cy="5266944"/>
          </a:xfrm>
          <a:prstGeom prst="ellipse">
            <a:avLst/>
          </a:prstGeom>
          <a:solidFill>
            <a:srgbClr val="6366F1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39496"/>
            <a:ext cx="256032" cy="10972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Thin, opinionated client over existing Stellar rails.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CLIENT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31720" y="2011680"/>
            <a:ext cx="2920898" cy="868680"/>
          </a:xfrm>
          <a:prstGeom prst="roundRect">
            <a:avLst>
              <a:gd name="adj" fmla="val 10526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31720" y="2011680"/>
            <a:ext cx="2920898" cy="64008"/>
          </a:xfrm>
          <a:prstGeom prst="roundRect">
            <a:avLst>
              <a:gd name="adj" fmla="val 42857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2496312" y="2121408"/>
            <a:ext cx="2646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KAYA Mobile App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96312" y="2514600"/>
            <a:ext cx="26465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Native / Flutter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26938" y="2011680"/>
            <a:ext cx="2920898" cy="868680"/>
          </a:xfrm>
          <a:prstGeom prst="roundRect">
            <a:avLst>
              <a:gd name="adj" fmla="val 10526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26938" y="2011680"/>
            <a:ext cx="2920898" cy="64008"/>
          </a:xfrm>
          <a:prstGeom prst="roundRect">
            <a:avLst>
              <a:gd name="adj" fmla="val 42857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691530" y="2121408"/>
            <a:ext cx="2646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Budgeting Engine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91530" y="2514600"/>
            <a:ext cx="26465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“Kaya afford it?” coach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722157" y="2011680"/>
            <a:ext cx="2920898" cy="868680"/>
          </a:xfrm>
          <a:prstGeom prst="roundRect">
            <a:avLst>
              <a:gd name="adj" fmla="val 10526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722157" y="2011680"/>
            <a:ext cx="2920898" cy="64008"/>
          </a:xfrm>
          <a:prstGeom prst="roundRect">
            <a:avLst>
              <a:gd name="adj" fmla="val 42857"/>
            </a:avLst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8886749" y="2121408"/>
            <a:ext cx="2646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Stellar Wallet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886749" y="2514600"/>
            <a:ext cx="26465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Freighter / Passkey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24612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BACKEND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31720" y="3200400"/>
            <a:ext cx="9311335" cy="777240"/>
          </a:xfrm>
          <a:prstGeom prst="roundRect">
            <a:avLst>
              <a:gd name="adj" fmla="val 11765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31720" y="3200400"/>
            <a:ext cx="9311335" cy="64008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/>
        </p:spPr>
      </p:sp>
      <p:sp>
        <p:nvSpPr>
          <p:cNvPr id="27" name="Text 25"/>
          <p:cNvSpPr/>
          <p:nvPr/>
        </p:nvSpPr>
        <p:spPr>
          <a:xfrm>
            <a:off x="2496312" y="3310128"/>
            <a:ext cx="903701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KAYA Backend + Fee-Bump Service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2496312" y="3703320"/>
            <a:ext cx="90370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Orchestrates AI · Stellar SDK · sponsors network fees (gasless UX)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48640" y="4526280"/>
            <a:ext cx="1920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STELLAR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31720" y="4480560"/>
            <a:ext cx="2920898" cy="1371600"/>
          </a:xfrm>
          <a:prstGeom prst="roundRect">
            <a:avLst>
              <a:gd name="adj" fmla="val 6667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331720" y="4480560"/>
            <a:ext cx="2920898" cy="64008"/>
          </a:xfrm>
          <a:prstGeom prst="roundRect">
            <a:avLst>
              <a:gd name="adj" fmla="val 42857"/>
            </a:avLst>
          </a:prstGeom>
          <a:solidFill>
            <a:srgbClr val="22D3EE"/>
          </a:solidFill>
          <a:ln/>
        </p:spPr>
      </p:sp>
      <p:sp>
        <p:nvSpPr>
          <p:cNvPr id="32" name="Text 30"/>
          <p:cNvSpPr/>
          <p:nvPr/>
        </p:nvSpPr>
        <p:spPr>
          <a:xfrm>
            <a:off x="2496312" y="4590288"/>
            <a:ext cx="264657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Local Anchor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496312" y="4983480"/>
            <a:ext cx="264657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SEP-24 / SEP-6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GCash · Maya · Bank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26938" y="4480560"/>
            <a:ext cx="6116117" cy="566928"/>
          </a:xfrm>
          <a:prstGeom prst="roundRect">
            <a:avLst>
              <a:gd name="adj" fmla="val 16129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26938" y="4480560"/>
            <a:ext cx="6116117" cy="64008"/>
          </a:xfrm>
          <a:prstGeom prst="roundRect">
            <a:avLst>
              <a:gd name="adj" fmla="val 42857"/>
            </a:avLst>
          </a:prstGeom>
          <a:solidFill>
            <a:srgbClr val="34D399"/>
          </a:solidFill>
          <a:ln/>
        </p:spPr>
      </p:sp>
      <p:sp>
        <p:nvSpPr>
          <p:cNvPr id="36" name="Text 34"/>
          <p:cNvSpPr/>
          <p:nvPr/>
        </p:nvSpPr>
        <p:spPr>
          <a:xfrm>
            <a:off x="5691530" y="4590288"/>
            <a:ext cx="584179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Horizon / Soroban RPC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526938" y="5166360"/>
            <a:ext cx="1855826" cy="685800"/>
          </a:xfrm>
          <a:prstGeom prst="roundRect">
            <a:avLst>
              <a:gd name="adj" fmla="val 13333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526938" y="5166360"/>
            <a:ext cx="1855826" cy="64008"/>
          </a:xfrm>
          <a:prstGeom prst="roundRect">
            <a:avLst>
              <a:gd name="adj" fmla="val 42857"/>
            </a:avLst>
          </a:prstGeom>
          <a:solidFill>
            <a:srgbClr val="34D399"/>
          </a:solidFill>
          <a:ln/>
        </p:spPr>
      </p:sp>
      <p:sp>
        <p:nvSpPr>
          <p:cNvPr id="39" name="Text 37"/>
          <p:cNvSpPr/>
          <p:nvPr/>
        </p:nvSpPr>
        <p:spPr>
          <a:xfrm>
            <a:off x="5691530" y="5276088"/>
            <a:ext cx="158150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Soroban Vault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5691530" y="5669280"/>
            <a:ext cx="158150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48h lockup + yield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657084" y="5166360"/>
            <a:ext cx="1855826" cy="685800"/>
          </a:xfrm>
          <a:prstGeom prst="roundRect">
            <a:avLst>
              <a:gd name="adj" fmla="val 13333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657084" y="5166360"/>
            <a:ext cx="1855826" cy="64008"/>
          </a:xfrm>
          <a:prstGeom prst="roundRect">
            <a:avLst>
              <a:gd name="adj" fmla="val 42857"/>
            </a:avLst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7821676" y="5276088"/>
            <a:ext cx="158150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Path Payment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7821676" y="5669280"/>
            <a:ext cx="158150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QR merchant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787230" y="5166360"/>
            <a:ext cx="1855826" cy="685800"/>
          </a:xfrm>
          <a:prstGeom prst="roundRect">
            <a:avLst>
              <a:gd name="adj" fmla="val 13333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9787230" y="5166360"/>
            <a:ext cx="1855826" cy="64008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/>
        </p:spPr>
      </p:sp>
      <p:sp>
        <p:nvSpPr>
          <p:cNvPr id="47" name="Text 45"/>
          <p:cNvSpPr/>
          <p:nvPr/>
        </p:nvSpPr>
        <p:spPr>
          <a:xfrm>
            <a:off x="9951822" y="5276088"/>
            <a:ext cx="158150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Reputation Registry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951822" y="5669280"/>
            <a:ext cx="1581506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on-chain score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2B2B3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Kaya mo 'to.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071055" y="6400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APEC x Stellar Hackathon 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02613" y="-1885493"/>
            <a:ext cx="4685386" cy="4685386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25066" y="-2307946"/>
            <a:ext cx="5530291" cy="5530291"/>
          </a:xfrm>
          <a:prstGeom prst="ellipse">
            <a:avLst/>
          </a:prstGeom>
          <a:solidFill>
            <a:srgbClr val="8B5CF6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4255" y="4663440"/>
            <a:ext cx="3657600" cy="3657600"/>
          </a:xfrm>
          <a:prstGeom prst="ellipse">
            <a:avLst/>
          </a:prstGeom>
          <a:solidFill>
            <a:srgbClr val="6366F1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11919" y="4261104"/>
            <a:ext cx="4462272" cy="4462272"/>
          </a:xfrm>
          <a:prstGeom prst="ellipse">
            <a:avLst/>
          </a:prstGeom>
          <a:solidFill>
            <a:srgbClr val="6366F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9583" y="3858768"/>
            <a:ext cx="5266944" cy="5266944"/>
          </a:xfrm>
          <a:prstGeom prst="ellipse">
            <a:avLst/>
          </a:prstGeom>
          <a:solidFill>
            <a:srgbClr val="6366F1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39496"/>
            <a:ext cx="256032" cy="10972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COMPOSABILITY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build the thin layer. We reuse the heavy lifting.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5318608" cy="2286000"/>
          </a:xfrm>
          <a:prstGeom prst="roundRect">
            <a:avLst>
              <a:gd name="adj" fmla="val 4000"/>
            </a:avLst>
          </a:prstGeom>
          <a:solidFill>
            <a:srgbClr val="1B1B27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148840"/>
            <a:ext cx="82296" cy="2286000"/>
          </a:xfrm>
          <a:prstGeom prst="roundRect">
            <a:avLst>
              <a:gd name="adj" fmla="val 44444"/>
            </a:avLst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37744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BUILD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788920"/>
            <a:ext cx="46785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coaching layer (the “Kaya afford it?” moment)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Cooling-off vault contract logic (48h lockup)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Reputation registry schema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Consumer UX that feels like a normal peso wallet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24448" y="2148840"/>
            <a:ext cx="5318608" cy="2286000"/>
          </a:xfrm>
          <a:prstGeom prst="roundRect">
            <a:avLst>
              <a:gd name="adj" fmla="val 4000"/>
            </a:avLst>
          </a:prstGeom>
          <a:solidFill>
            <a:srgbClr val="1B1B27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24448" y="2148840"/>
            <a:ext cx="82296" cy="2286000"/>
          </a:xfrm>
          <a:prstGeom prst="roundRect">
            <a:avLst>
              <a:gd name="adj" fmla="val 44444"/>
            </a:avLst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6644488" y="2377440"/>
            <a:ext cx="476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REUSE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44488" y="2788920"/>
            <a:ext cx="467852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On/off-ramps → existing SEA Stellar anchors (SEP-24/6)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 &amp; liquidity → yield pools + Stellar native DEX/AMM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 → path payments + fee-bump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Wallets &amp; identity → Freighter/passkey + attestations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110944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RECOMMENDED INTEGRATIONS — ALL COVERED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2651760" cy="411480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029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ON/OFF-RAMPS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37560" y="5029200"/>
            <a:ext cx="2651760" cy="411480"/>
          </a:xfrm>
          <a:prstGeom prst="roundRect">
            <a:avLst>
              <a:gd name="adj" fmla="val 50000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5029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DEFI &amp; LIQUIDITY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26480" y="5029200"/>
            <a:ext cx="2651760" cy="411480"/>
          </a:xfrm>
          <a:prstGeom prst="roundRect">
            <a:avLst>
              <a:gd name="adj" fmla="val 50000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5029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PAYMENTS &amp; DISBURSEMENTS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915400" y="5029200"/>
            <a:ext cx="2651760" cy="411480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15400" y="50292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WALLETS &amp; IDENTITY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56692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“Plug into existing wallets, DeFi protocols, and on/off-ramps — don't reinvent the wheel.”  KAYA does exactly that.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2B2B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Kaya mo 'to.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71055" y="6400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APEC x Stellar Hackathon 2026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02613" y="-1885493"/>
            <a:ext cx="4685386" cy="4685386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25066" y="-2307946"/>
            <a:ext cx="5530291" cy="5530291"/>
          </a:xfrm>
          <a:prstGeom prst="ellipse">
            <a:avLst/>
          </a:prstGeom>
          <a:solidFill>
            <a:srgbClr val="8B5CF6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4255" y="4663440"/>
            <a:ext cx="3657600" cy="3657600"/>
          </a:xfrm>
          <a:prstGeom prst="ellipse">
            <a:avLst/>
          </a:prstGeom>
          <a:solidFill>
            <a:srgbClr val="6366F1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11919" y="4261104"/>
            <a:ext cx="4462272" cy="4462272"/>
          </a:xfrm>
          <a:prstGeom prst="ellipse">
            <a:avLst/>
          </a:prstGeom>
          <a:solidFill>
            <a:srgbClr val="6366F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9583" y="3858768"/>
            <a:ext cx="5266944" cy="5266944"/>
          </a:xfrm>
          <a:prstGeom prst="ellipse">
            <a:avLst/>
          </a:prstGeom>
          <a:solidFill>
            <a:srgbClr val="6366F1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39496"/>
            <a:ext cx="256032" cy="10972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CRITERIA COVERAGE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Every requirement in the brief — checked.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5318608" cy="841248"/>
          </a:xfrm>
          <a:prstGeom prst="roundRect">
            <a:avLst>
              <a:gd name="adj" fmla="val 10870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49808" y="2414016"/>
            <a:ext cx="402336" cy="402336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3957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98448" y="2313432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User-facing financial app for real people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298448" y="2615184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money coach for young Filipinos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24448" y="2194560"/>
            <a:ext cx="5318608" cy="841248"/>
          </a:xfrm>
          <a:prstGeom prst="roundRect">
            <a:avLst>
              <a:gd name="adj" fmla="val 10870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25616" y="2414016"/>
            <a:ext cx="402336" cy="402336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5616" y="239572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74256" y="2313432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Practical payment app (everyday use)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074256" y="2615184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AI-approved QRPh pay, gasless via fee-bump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5318608" cy="841248"/>
          </a:xfrm>
          <a:prstGeom prst="roundRect">
            <a:avLst>
              <a:gd name="adj" fmla="val 10870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9808" y="3419856"/>
            <a:ext cx="402336" cy="402336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" y="3401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98448" y="3319272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Meaningful DeFi using real assets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298448" y="3621024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Soroban yield vault + 48h cooling-off lockup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24448" y="3200400"/>
            <a:ext cx="5318608" cy="841248"/>
          </a:xfrm>
          <a:prstGeom prst="roundRect">
            <a:avLst>
              <a:gd name="adj" fmla="val 10870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25616" y="3419856"/>
            <a:ext cx="402336" cy="402336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25616" y="3401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74256" y="3319272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Localized tool / local economy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074256" y="3621024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GCash/Maya/bank ramps + PHP stablecoin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206240"/>
            <a:ext cx="5318608" cy="841248"/>
          </a:xfrm>
          <a:prstGeom prst="roundRect">
            <a:avLst>
              <a:gd name="adj" fmla="val 10870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9808" y="4425696"/>
            <a:ext cx="402336" cy="402336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" y="44074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98448" y="4325112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Integrate with local anchors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298448" y="4626864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SEP-24/SEP-6 against SEA anchors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24448" y="4206240"/>
            <a:ext cx="5318608" cy="841248"/>
          </a:xfrm>
          <a:prstGeom prst="roundRect">
            <a:avLst>
              <a:gd name="adj" fmla="val 10870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25616" y="4425696"/>
            <a:ext cx="402336" cy="402336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5616" y="44074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74256" y="4325112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Give assets utility (earn/swap/disburse)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074256" y="4626864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Vault yield · path-payment swap · QR pay &amp; cash-out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212080"/>
            <a:ext cx="5318608" cy="841248"/>
          </a:xfrm>
          <a:prstGeom prst="roundRect">
            <a:avLst>
              <a:gd name="adj" fmla="val 10870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9808" y="5431536"/>
            <a:ext cx="402336" cy="402336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5413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98448" y="5330952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Composability — reuse building blocks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298448" y="5632704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Anchors, yield pools, DEX/AMM, fee-bump, wallets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24448" y="5212080"/>
            <a:ext cx="5318608" cy="841248"/>
          </a:xfrm>
          <a:prstGeom prst="roundRect">
            <a:avLst>
              <a:gd name="adj" fmla="val 10870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525616" y="5431536"/>
            <a:ext cx="402336" cy="402336"/>
          </a:xfrm>
          <a:prstGeom prst="ellipse">
            <a:avLst/>
          </a:prstGeom>
          <a:solidFill>
            <a:srgbClr val="34D399">
              <a:alpha val="25000"/>
            </a:srgbClr>
          </a:solidFill>
          <a:ln w="12700">
            <a:solidFill>
              <a:srgbClr val="34D399">
                <a:alpha val="8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25616" y="5413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074256" y="5330952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Wallets &amp; identity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7074256" y="5632704"/>
            <a:ext cx="440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Freighter/passkey + on-chain reputation score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2B2B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Kaya mo 'to.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071055" y="6400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APEC x Stellar Hackathon 2026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02613" y="-1885493"/>
            <a:ext cx="4685386" cy="4685386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25066" y="-2307946"/>
            <a:ext cx="5530291" cy="5530291"/>
          </a:xfrm>
          <a:prstGeom prst="ellipse">
            <a:avLst/>
          </a:prstGeom>
          <a:solidFill>
            <a:srgbClr val="8B5CF6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4255" y="4663440"/>
            <a:ext cx="3657600" cy="3657600"/>
          </a:xfrm>
          <a:prstGeom prst="ellipse">
            <a:avLst/>
          </a:prstGeom>
          <a:solidFill>
            <a:srgbClr val="6366F1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11919" y="4261104"/>
            <a:ext cx="4462272" cy="4462272"/>
          </a:xfrm>
          <a:prstGeom prst="ellipse">
            <a:avLst/>
          </a:prstGeom>
          <a:solidFill>
            <a:srgbClr val="6366F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9583" y="3858768"/>
            <a:ext cx="5266944" cy="5266944"/>
          </a:xfrm>
          <a:prstGeom prst="ellipse">
            <a:avLst/>
          </a:prstGeom>
          <a:solidFill>
            <a:srgbClr val="6366F1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39496"/>
            <a:ext cx="256032" cy="10972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ROADMAP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Aligned to the program timeline.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511778" y="2606040"/>
            <a:ext cx="9168140" cy="0"/>
          </a:xfrm>
          <a:prstGeom prst="line">
            <a:avLst/>
          </a:prstGeom>
          <a:noFill/>
          <a:ln w="19050">
            <a:solidFill>
              <a:srgbClr val="2B2B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92906" y="2487168"/>
            <a:ext cx="237744" cy="237744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A0A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57400"/>
            <a:ext cx="19262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MAY–EARLY JUN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971800"/>
            <a:ext cx="1926275" cy="2377440"/>
          </a:xfrm>
          <a:prstGeom prst="roundRect">
            <a:avLst>
              <a:gd name="adj" fmla="val 4747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971800"/>
            <a:ext cx="82296" cy="2377440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54680"/>
            <a:ext cx="15605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749040"/>
            <a:ext cx="156051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Wallet + testnet account · issue local stablecoin · SEP-24 deposit demo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84941" y="2487168"/>
            <a:ext cx="237744" cy="237744"/>
          </a:xfrm>
          <a:prstGeom prst="ellipse">
            <a:avLst/>
          </a:prstGeom>
          <a:solidFill>
            <a:srgbClr val="34D399"/>
          </a:solidFill>
          <a:ln w="25400">
            <a:solidFill>
              <a:srgbClr val="0A0A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40675" y="2057400"/>
            <a:ext cx="19262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JUNE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840675" y="2971800"/>
            <a:ext cx="1926275" cy="2377440"/>
          </a:xfrm>
          <a:prstGeom prst="roundRect">
            <a:avLst>
              <a:gd name="adj" fmla="val 4747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40675" y="2971800"/>
            <a:ext cx="82296" cy="2377440"/>
          </a:xfrm>
          <a:prstGeom prst="roundRect">
            <a:avLst>
              <a:gd name="adj" fmla="val 44444"/>
            </a:avLst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3023555" y="3154680"/>
            <a:ext cx="15605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Core DeFi + Pay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23555" y="3749040"/>
            <a:ext cx="156051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Soroban vault w/ 48h lockup + yield · QR path-payment + fee-bump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76976" y="2487168"/>
            <a:ext cx="237744" cy="237744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A0A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2710" y="2057400"/>
            <a:ext cx="19262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EARLY–MID JUL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132710" y="2971800"/>
            <a:ext cx="1926275" cy="2377440"/>
          </a:xfrm>
          <a:prstGeom prst="roundRect">
            <a:avLst>
              <a:gd name="adj" fmla="val 4747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132710" y="2971800"/>
            <a:ext cx="82296" cy="2377440"/>
          </a:xfrm>
          <a:prstGeom prst="roundRect">
            <a:avLst>
              <a:gd name="adj" fmla="val 44444"/>
            </a:avLst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5315590" y="3154680"/>
            <a:ext cx="15605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 + Reputation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15590" y="3749040"/>
            <a:ext cx="156051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“Kaya afford it?” coaching · Soroban reputation registry + score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269011" y="2487168"/>
            <a:ext cx="237744" cy="237744"/>
          </a:xfrm>
          <a:prstGeom prst="ellipse">
            <a:avLst/>
          </a:prstGeom>
          <a:solidFill>
            <a:srgbClr val="FBBF24"/>
          </a:solidFill>
          <a:ln w="25400">
            <a:solidFill>
              <a:srgbClr val="0A0A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4745" y="2057400"/>
            <a:ext cx="19262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LATE JUL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24745" y="2971800"/>
            <a:ext cx="1926275" cy="2377440"/>
          </a:xfrm>
          <a:prstGeom prst="roundRect">
            <a:avLst>
              <a:gd name="adj" fmla="val 4747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424745" y="2971800"/>
            <a:ext cx="82296" cy="2377440"/>
          </a:xfrm>
          <a:prstGeom prst="roundRect">
            <a:avLst>
              <a:gd name="adj" fmla="val 44444"/>
            </a:avLst>
          </a:prstGeom>
          <a:solidFill>
            <a:srgbClr val="FBBF24"/>
          </a:solidFill>
          <a:ln/>
        </p:spPr>
      </p:sp>
      <p:sp>
        <p:nvSpPr>
          <p:cNvPr id="34" name="Text 32"/>
          <p:cNvSpPr/>
          <p:nvPr/>
        </p:nvSpPr>
        <p:spPr>
          <a:xfrm>
            <a:off x="7607625" y="3154680"/>
            <a:ext cx="15605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Polish + Pitch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07625" y="3749040"/>
            <a:ext cx="156051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demo · judging submission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561046" y="2487168"/>
            <a:ext cx="237744" cy="237744"/>
          </a:xfrm>
          <a:prstGeom prst="ellipse">
            <a:avLst/>
          </a:prstGeom>
          <a:solidFill>
            <a:srgbClr val="FB7185"/>
          </a:solidFill>
          <a:ln w="25400">
            <a:solidFill>
              <a:srgbClr val="0A0A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16780" y="2057400"/>
            <a:ext cx="19262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B71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AUG–SEP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716780" y="2971800"/>
            <a:ext cx="1926275" cy="2377440"/>
          </a:xfrm>
          <a:prstGeom prst="roundRect">
            <a:avLst>
              <a:gd name="adj" fmla="val 4747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9716780" y="2971800"/>
            <a:ext cx="82296" cy="2377440"/>
          </a:xfrm>
          <a:prstGeom prst="roundRect">
            <a:avLst>
              <a:gd name="adj" fmla="val 44444"/>
            </a:avLst>
          </a:prstGeom>
          <a:solidFill>
            <a:srgbClr val="FB7185"/>
          </a:solidFill>
          <a:ln/>
        </p:spPr>
      </p:sp>
      <p:sp>
        <p:nvSpPr>
          <p:cNvPr id="40" name="Text 38"/>
          <p:cNvSpPr/>
          <p:nvPr/>
        </p:nvSpPr>
        <p:spPr>
          <a:xfrm>
            <a:off x="9899660" y="3154680"/>
            <a:ext cx="156051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Post-hackathon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899660" y="3749040"/>
            <a:ext cx="156051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Anchor partnerships · pilot users · micro-lending integration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2B2B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Kaya mo 'to.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71055" y="6400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APEC x Stellar Hackathon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3840480" cy="3840480"/>
          </a:xfrm>
          <a:prstGeom prst="ellipse">
            <a:avLst/>
          </a:prstGeom>
          <a:solidFill>
            <a:srgbClr val="8B5CF6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02613" y="-1885493"/>
            <a:ext cx="4685386" cy="4685386"/>
          </a:xfrm>
          <a:prstGeom prst="ellipse">
            <a:avLst/>
          </a:prstGeom>
          <a:solidFill>
            <a:srgbClr val="8B5CF6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25066" y="-2307946"/>
            <a:ext cx="5530291" cy="5530291"/>
          </a:xfrm>
          <a:prstGeom prst="ellipse">
            <a:avLst/>
          </a:prstGeom>
          <a:solidFill>
            <a:srgbClr val="8B5CF6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4255" y="4663440"/>
            <a:ext cx="3657600" cy="3657600"/>
          </a:xfrm>
          <a:prstGeom prst="ellipse">
            <a:avLst/>
          </a:prstGeom>
          <a:solidFill>
            <a:srgbClr val="6366F1">
              <a:alpha val="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11919" y="4261104"/>
            <a:ext cx="4462272" cy="4462272"/>
          </a:xfrm>
          <a:prstGeom prst="ellipse">
            <a:avLst/>
          </a:prstGeom>
          <a:solidFill>
            <a:srgbClr val="6366F1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009583" y="3858768"/>
            <a:ext cx="5266944" cy="5266944"/>
          </a:xfrm>
          <a:prstGeom prst="ellipse">
            <a:avLst/>
          </a:prstGeom>
          <a:solidFill>
            <a:srgbClr val="6366F1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539496"/>
            <a:ext cx="256032" cy="10972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389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IMPACT · KPIS · THE ASK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84124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6F6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Discipline, made measurable — and fundable.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2499284" cy="1783080"/>
          </a:xfrm>
          <a:prstGeom prst="roundRect">
            <a:avLst>
              <a:gd name="adj" fmla="val 5128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148840"/>
            <a:ext cx="82296" cy="1783080"/>
          </a:xfrm>
          <a:prstGeom prst="roundRect">
            <a:avLst>
              <a:gd name="adj" fmla="val 44444"/>
            </a:avLst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377440"/>
            <a:ext cx="2087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₱ redirected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2880360"/>
            <a:ext cx="20878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impulse spend into the vault, per user / month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13684" y="2148840"/>
            <a:ext cx="2499284" cy="1783080"/>
          </a:xfrm>
          <a:prstGeom prst="roundRect">
            <a:avLst>
              <a:gd name="adj" fmla="val 5128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13684" y="2148840"/>
            <a:ext cx="82296" cy="1783080"/>
          </a:xfrm>
          <a:prstGeom prst="roundRect">
            <a:avLst>
              <a:gd name="adj" fmla="val 44444"/>
            </a:avLst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3642284" y="2377440"/>
            <a:ext cx="2087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% kept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42284" y="2880360"/>
            <a:ext cx="20878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cooling-off periods that end in keeping the savings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78728" y="2148840"/>
            <a:ext cx="2499284" cy="1783080"/>
          </a:xfrm>
          <a:prstGeom prst="roundRect">
            <a:avLst>
              <a:gd name="adj" fmla="val 5128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78728" y="2148840"/>
            <a:ext cx="82296" cy="1783080"/>
          </a:xfrm>
          <a:prstGeom prst="roundRect">
            <a:avLst>
              <a:gd name="adj" fmla="val 44444"/>
            </a:avLst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6507328" y="2377440"/>
            <a:ext cx="2087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QR pays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07328" y="2880360"/>
            <a:ext cx="20878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purchases settled via Stellar path payment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143771" y="2148840"/>
            <a:ext cx="2499284" cy="1783080"/>
          </a:xfrm>
          <a:prstGeom prst="roundRect">
            <a:avLst>
              <a:gd name="adj" fmla="val 5128"/>
            </a:avLst>
          </a:prstGeom>
          <a:solidFill>
            <a:srgbClr val="15151F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3771" y="2148840"/>
            <a:ext cx="82296" cy="1783080"/>
          </a:xfrm>
          <a:prstGeom prst="roundRect">
            <a:avLst>
              <a:gd name="adj" fmla="val 44444"/>
            </a:avLst>
          </a:prstGeom>
          <a:solidFill>
            <a:srgbClr val="FBBF24"/>
          </a:solidFill>
          <a:ln/>
        </p:spPr>
      </p:sp>
      <p:sp>
        <p:nvSpPr>
          <p:cNvPr id="25" name="Text 23"/>
          <p:cNvSpPr/>
          <p:nvPr/>
        </p:nvSpPr>
        <p:spPr>
          <a:xfrm>
            <a:off x="9372371" y="2377440"/>
            <a:ext cx="20878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Scores → loans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372371" y="2880360"/>
            <a:ext cx="20878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 Scores generated · loan offers unlocked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4160520"/>
            <a:ext cx="11094415" cy="1417320"/>
          </a:xfrm>
          <a:prstGeom prst="roundRect">
            <a:avLst>
              <a:gd name="adj" fmla="val 6452"/>
            </a:avLst>
          </a:prstGeom>
          <a:solidFill>
            <a:srgbClr val="1B1B27"/>
          </a:solidFill>
          <a:ln w="12700">
            <a:solidFill>
              <a:srgbClr val="2B2B3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160520"/>
            <a:ext cx="82296" cy="1417320"/>
          </a:xfrm>
          <a:prstGeom prst="roundRect">
            <a:avLst>
              <a:gd name="adj" fmla="val 44444"/>
            </a:avLst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370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ASK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" y="4709160"/>
            <a:ext cx="103628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Stellar mentorship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(Soroban + anchors)  · 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intros to SEA anchor &amp; lending partners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composability  ·  </a:t>
            </a:r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6F6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shot at the prize pool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fund a pilot.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2B2B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KAYA</a:t>
            </a:r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Kaya mo 'to.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71055" y="6400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APEC x Stellar Hackathon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09848" y="365760"/>
            <a:ext cx="5029200" cy="502920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3256636" y="-187452"/>
            <a:ext cx="6135624" cy="6135624"/>
          </a:xfrm>
          <a:prstGeom prst="ellipse">
            <a:avLst/>
          </a:prstGeom>
          <a:solidFill>
            <a:srgbClr val="8B5CF6">
              <a:alpha val="11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03424" y="-740664"/>
            <a:ext cx="7242048" cy="7242048"/>
          </a:xfrm>
          <a:prstGeom prst="ellips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1824228" y="4119372"/>
            <a:ext cx="5020056" cy="5020056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2276856" y="3666744"/>
            <a:ext cx="5925312" cy="5925312"/>
          </a:xfrm>
          <a:prstGeom prst="ellipse">
            <a:avLst/>
          </a:prstGeom>
          <a:solidFill>
            <a:srgbClr val="22D3EE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448495" y="4114800"/>
            <a:ext cx="4389120" cy="4389120"/>
          </a:xfrm>
          <a:prstGeom prst="ellipse">
            <a:avLst/>
          </a:prstGeom>
          <a:solidFill>
            <a:srgbClr val="34D399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965692" y="3631997"/>
            <a:ext cx="5354726" cy="5354726"/>
          </a:xfrm>
          <a:prstGeom prst="ellipse">
            <a:avLst/>
          </a:prstGeom>
          <a:solidFill>
            <a:srgbClr val="34D399">
              <a:alpha val="7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482889" y="3149194"/>
            <a:ext cx="6320333" cy="6320333"/>
          </a:xfrm>
          <a:prstGeom prst="ellipse">
            <a:avLst/>
          </a:prstGeom>
          <a:solidFill>
            <a:srgbClr val="34D399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592928" y="1371600"/>
            <a:ext cx="1005840" cy="1005840"/>
          </a:xfrm>
          <a:prstGeom prst="roundRect">
            <a:avLst>
              <a:gd name="adj" fmla="val 23636"/>
            </a:avLst>
          </a:prstGeom>
          <a:solidFill>
            <a:srgbClr val="8B5CF6"/>
          </a:solidFill>
          <a:ln/>
          <a:effectLst>
            <a:outerShdw sx="100000" sy="100000" kx="0" ky="0" algn="bl" rotWithShape="0" blurRad="279400" dist="50800" dir="5400000">
              <a:srgbClr val="8B5CF6">
                <a:alpha val="6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92928" y="13716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0" y="265176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Kaya</a:t>
            </a:r>
            <a:pPr algn="ctr" indent="0" marL="0">
              <a:buNone/>
            </a:pPr>
            <a:r>
              <a:rPr lang="en-US" sz="7200" b="1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mo </a:t>
            </a:r>
            <a:pPr algn="ctr" indent="0" marL="0">
              <a:buNone/>
            </a:pPr>
            <a:r>
              <a:rPr lang="en-US" sz="7200" b="1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'to.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0" y="39776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AA0A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Smarter spending. Real savings. On-chain credibility. For every young Filipino.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340968" y="4754880"/>
            <a:ext cx="2240280" cy="347472"/>
          </a:xfrm>
          <a:prstGeom prst="roundRect">
            <a:avLst>
              <a:gd name="adj" fmla="val 50000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>
                <a:alpha val="6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40968" y="4754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8B5CF6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PRACTICAL PAYMENTS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64128" y="4754880"/>
            <a:ext cx="2240280" cy="347472"/>
          </a:xfrm>
          <a:prstGeom prst="roundRect">
            <a:avLst>
              <a:gd name="adj" fmla="val 50000"/>
            </a:avLst>
          </a:prstGeom>
          <a:solidFill>
            <a:srgbClr val="34D399">
              <a:alpha val="18000"/>
            </a:srgbClr>
          </a:solidFill>
          <a:ln w="12700">
            <a:solidFill>
              <a:srgbClr val="34D399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64128" y="4754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34D3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MEANINGFUL DEFI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87288" y="4754880"/>
            <a:ext cx="2240280" cy="347472"/>
          </a:xfrm>
          <a:prstGeom prst="roundRect">
            <a:avLst>
              <a:gd name="adj" fmla="val 50000"/>
            </a:avLst>
          </a:prstGeom>
          <a:solidFill>
            <a:srgbClr val="22D3EE">
              <a:alpha val="18000"/>
            </a:srgbClr>
          </a:solidFill>
          <a:ln w="1270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7288" y="4754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22D3E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LOCALIZED TOOLS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610448" y="4754880"/>
            <a:ext cx="2240280" cy="347472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10448" y="4754880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BBF2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COMPOSABILITY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0" y="5852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KAYA  ·  github.com/ShinkoSiVes/KAYA_apac-x-stelar_Hackathon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KAYA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KAYA x Stellar — Hackathon Pitch</dc:title>
  <dc:subject>PptxGenJS Presentation</dc:subject>
  <dc:creator>KAYA Team</dc:creator>
  <cp:lastModifiedBy>KAYA Team</cp:lastModifiedBy>
  <cp:revision>1</cp:revision>
  <dcterms:created xsi:type="dcterms:W3CDTF">2026-06-30T18:08:35Z</dcterms:created>
  <dcterms:modified xsi:type="dcterms:W3CDTF">2026-06-30T18:08:35Z</dcterms:modified>
</cp:coreProperties>
</file>